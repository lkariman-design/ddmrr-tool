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0"/>
    <c:plotArea>
      <c:layout/>
      <c:radarChart>
        <c:radarStyle val="fill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Strategy &amp;
Leadership</c:v>
                </c:pt>
                <c:pt idx="1">
                  <c:v>Sales &amp;
Marketing</c:v>
                </c:pt>
                <c:pt idx="2">
                  <c:v>Operations &amp;
Supply Chain</c:v>
                </c:pt>
                <c:pt idx="3">
                  <c:v>Finance</c:v>
                </c:pt>
                <c:pt idx="4">
                  <c:v>Industry
Context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81</c:v>
                </c:pt>
                <c:pt idx="1">
                  <c:v>78</c:v>
                </c:pt>
                <c:pt idx="2">
                  <c:v>78</c:v>
                </c:pt>
                <c:pt idx="3">
                  <c:v>67</c:v>
                </c:pt>
                <c:pt idx="4">
                  <c:v>75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Benchmark (75)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Strategy &amp;
Leadership</c:v>
                </c:pt>
                <c:pt idx="1">
                  <c:v>Sales &amp;
Marketing</c:v>
                </c:pt>
                <c:pt idx="2">
                  <c:v>Operations &amp;
Supply Chain</c:v>
                </c:pt>
                <c:pt idx="3">
                  <c:v>Finance</c:v>
                </c:pt>
                <c:pt idx="4">
                  <c:v>Industry
Context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75</c:v>
                </c:pt>
                <c:pt idx="1">
                  <c:v>75</c:v>
                </c:pt>
                <c:pt idx="2">
                  <c:v>75</c:v>
                </c:pt>
                <c:pt idx="3">
                  <c:v>75</c:v>
                </c:pt>
                <c:pt idx="4">
                  <c:v>75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/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12188952" cy="24688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DIGITAL DIAGNOSTIC AND MATURITY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D6E4F0"/>
                </a:solidFill>
              </a:rPr>
              <a:t>Janatics India Private Limited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D6E4F0"/>
                </a:solidFill>
              </a:rPr>
              <a:t>CIN: U31103TZ1991PTC003409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3474720"/>
            <a:ext cx="3200400" cy="109728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347472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75.7/100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4114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COMPOSITE DDMR 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548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Report Date: 19 April 2026   | 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Company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2103120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2344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Founded</a:t>
            </a:r>
          </a:p>
        </p:txBody>
      </p:sp>
      <p:sp>
        <p:nvSpPr>
          <p:cNvPr id="6" name="Rectangle 5"/>
          <p:cNvSpPr/>
          <p:nvPr/>
        </p:nvSpPr>
        <p:spPr>
          <a:xfrm>
            <a:off x="2514600" y="1188720"/>
            <a:ext cx="3474720" cy="5029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0" y="12344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</a:rPr>
              <a:t>1977 (brand) / 1991 (incorporated)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38528"/>
            <a:ext cx="2103120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98424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CIN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14600" y="1938528"/>
            <a:ext cx="3474720" cy="5029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198424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</a:rPr>
              <a:t>U31103TZ1991PTC003409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688336"/>
            <a:ext cx="2103120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2734056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Headquarters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14600" y="2688336"/>
            <a:ext cx="3474720" cy="5029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60320" y="2734056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</a:rPr>
              <a:t>Coimbatore, Tamil Nadu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438144"/>
            <a:ext cx="2103120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483864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Additional Plants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14600" y="3438144"/>
            <a:ext cx="3474720" cy="5029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60320" y="3483864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</a:rPr>
              <a:t>Ahmedabad, Noida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187952"/>
            <a:ext cx="2103120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423367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14600" y="4187952"/>
            <a:ext cx="3474720" cy="5029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60320" y="4233672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</a:rPr>
              <a:t>Active | ROC Coimbatore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937759"/>
            <a:ext cx="2103120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4983479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Revenue (FY2025)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14600" y="4937759"/>
            <a:ext cx="3474720" cy="5029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0" y="4983479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</a:rPr>
              <a:t>₹531 Crore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5687568"/>
            <a:ext cx="2103120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573328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Employees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14600" y="5687568"/>
            <a:ext cx="3474720" cy="5029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0320" y="573328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</a:rPr>
              <a:t>662 (Aug 2025)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1188720"/>
            <a:ext cx="2103120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12344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Products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58200" y="1188720"/>
            <a:ext cx="3474720" cy="5029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03920" y="12344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</a:rPr>
              <a:t>3,500+ SKUs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9360" y="1938528"/>
            <a:ext cx="2103120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198424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Customers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58200" y="1938528"/>
            <a:ext cx="3474720" cy="5029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03920" y="198424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</a:rPr>
              <a:t>17,000+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09360" y="2688336"/>
            <a:ext cx="2103120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5080" y="2734056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Countries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58200" y="2688336"/>
            <a:ext cx="3474720" cy="5029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03920" y="2734056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</a:rPr>
              <a:t>42+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09360" y="3438144"/>
            <a:ext cx="2103120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55080" y="3483864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Subsidiaries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458200" y="3438144"/>
            <a:ext cx="3474720" cy="5029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3920" y="3483864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</a:rPr>
              <a:t>USA, Germany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09360" y="4187952"/>
            <a:ext cx="2103120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55080" y="423367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Credit Rating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458200" y="4187952"/>
            <a:ext cx="3474720" cy="5029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03920" y="4233672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</a:rPr>
              <a:t>ICRA — Stable Outlook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09360" y="4937759"/>
            <a:ext cx="2103120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55080" y="4983479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R&amp;D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458200" y="4937759"/>
            <a:ext cx="3474720" cy="5029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03920" y="4983479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</a:rPr>
              <a:t>DSIR-recognized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09360" y="5687568"/>
            <a:ext cx="2103120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55080" y="573328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Industry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458200" y="5687568"/>
            <a:ext cx="3474720" cy="5029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03920" y="573328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</a:rPr>
              <a:t>Pneumatics &amp; Industrial Automation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DDMR Dimension Scorecard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097280"/>
          <a:ext cx="6858000" cy="5303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ectangle 4"/>
          <p:cNvSpPr/>
          <p:nvPr/>
        </p:nvSpPr>
        <p:spPr>
          <a:xfrm>
            <a:off x="7589520" y="1280160"/>
            <a:ext cx="548640" cy="64008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1280160"/>
            <a:ext cx="548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81</a:t>
            </a:r>
          </a:p>
        </p:txBody>
      </p:sp>
      <p:sp>
        <p:nvSpPr>
          <p:cNvPr id="7" name="Rectangle 6"/>
          <p:cNvSpPr/>
          <p:nvPr/>
        </p:nvSpPr>
        <p:spPr>
          <a:xfrm>
            <a:off x="8183879" y="1280160"/>
            <a:ext cx="3657600" cy="6400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353312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</a:rPr>
              <a:t>SL: Strategy &amp; Leadership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2286000"/>
            <a:ext cx="548640" cy="64008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0" y="2286000"/>
            <a:ext cx="548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78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3879" y="2286000"/>
            <a:ext cx="3657600" cy="6400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359152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</a:rPr>
              <a:t>SM: Sales &amp; Marketing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9520" y="3291840"/>
            <a:ext cx="548640" cy="64008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0" y="3291840"/>
            <a:ext cx="548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78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79" y="3291840"/>
            <a:ext cx="3657600" cy="6400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3364992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</a:rPr>
              <a:t>OSC: Operations &amp; Supply Chain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4297680"/>
            <a:ext cx="548640" cy="6400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0" y="4297680"/>
            <a:ext cx="548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67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4297680"/>
            <a:ext cx="3657600" cy="6400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370832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</a:rPr>
              <a:t>FIN: Finance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89520" y="5303520"/>
            <a:ext cx="548640" cy="64008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0" y="5303520"/>
            <a:ext cx="548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75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83879" y="5303520"/>
            <a:ext cx="3657600" cy="6400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5376672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</a:rPr>
              <a:t>IC: Industry Context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0" y="6400800"/>
            <a:ext cx="425196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6400800"/>
            <a:ext cx="4251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Composite Score: 75.7/100  —  Strong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SL: Strategy &amp; 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48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Score: 81/100   |   Weight: 25%</a:t>
            </a:r>
          </a:p>
        </p:txBody>
      </p:sp>
      <p:sp>
        <p:nvSpPr>
          <p:cNvPr id="5" name="Rectangle 4"/>
          <p:cNvSpPr/>
          <p:nvPr/>
        </p:nvSpPr>
        <p:spPr>
          <a:xfrm>
            <a:off x="9875520" y="91440"/>
            <a:ext cx="2011680" cy="8229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0" y="9144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81/100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280160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143000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Founded 1977 — 49-year operational track record, incorporated 1991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2075688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938528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3 active directors | AGM Sept 2024 | ROC Coimbatore filings current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2871216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734056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Global footprint: 42+ countries | Subsidiaries: USA and Germany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3666744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529584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DSIR-recognized R&amp;D division | 200 global distribution partners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4462272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325112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Strategic pivot: electric actuators, robotics, Industry 4.0 products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" y="5257800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5120640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ICRA-rated debt profile | Stable outlook | Healthy debt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1005840"/>
            <a:ext cx="3931920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Sub-Metric Scores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141732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SL01 Tenure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21239" y="152704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921239" y="1527048"/>
            <a:ext cx="1481328" cy="25603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612880" y="141732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050"/>
                </a:solidFill>
              </a:rPr>
              <a:t>90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201168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SL02 Directors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21239" y="212140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921239" y="2121408"/>
            <a:ext cx="1234440" cy="25603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612880" y="201168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050"/>
                </a:solidFill>
              </a:rPr>
              <a:t>75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260604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SL03 Governance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921239" y="271576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921239" y="2715768"/>
            <a:ext cx="1316736" cy="25603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612880" y="260604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050"/>
                </a:solidFill>
              </a:rPr>
              <a:t>80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320040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SL04 Debt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921239" y="331012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921239" y="3310128"/>
            <a:ext cx="1283817" cy="25603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612880" y="320040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050"/>
                </a:solidFill>
              </a:rPr>
              <a:t>78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0" y="379476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SL05 Strategy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921239" y="390448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921239" y="3904488"/>
            <a:ext cx="1349654" cy="25603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612880" y="379476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050"/>
                </a:solidFill>
              </a:rPr>
              <a:t>82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46720" y="438912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SL06 Global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921239" y="449884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921239" y="4498848"/>
            <a:ext cx="1448409" cy="25603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612880" y="438912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050"/>
                </a:solidFill>
              </a:rPr>
              <a:t>88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263640"/>
            <a:ext cx="7313371" cy="50292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37160" y="6281928"/>
            <a:ext cx="7132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Key Strength: 49-year brand | Global in 42 countries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3371" y="6263640"/>
            <a:ext cx="4875580" cy="50292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04811" y="628192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Risk: No public ESG / independent director disclosures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SM: Sales &amp; Marketing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48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Score: 78/100   |   Weight: 20%</a:t>
            </a:r>
          </a:p>
        </p:txBody>
      </p:sp>
      <p:sp>
        <p:nvSpPr>
          <p:cNvPr id="5" name="Rectangle 4"/>
          <p:cNvSpPr/>
          <p:nvPr/>
        </p:nvSpPr>
        <p:spPr>
          <a:xfrm>
            <a:off x="9875520" y="91440"/>
            <a:ext cx="2011680" cy="8229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0" y="9144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78/100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280160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143000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FY2025 Revenue: ₹531 Crore (₹507.9 Cr FY2024 → 4% YoY growth)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2075688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938528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Industry CAGR: 6.9% — Janatics growing slightly below sector pace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2871216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734056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17,000+ customers across 7 industries — low concentration risk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3666744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529584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200 global distribution partners | 3 manufacturing plants nationally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4462272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325112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Own-brand (Janatics) | AIA India member | 49-year brand equity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" y="5257800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5120640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Digital commerce channel not yet activated — potential growth lever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1005840"/>
            <a:ext cx="3931920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Sub-Metric Scores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141732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SM01 Rev Growth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21239" y="152704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921239" y="1527048"/>
            <a:ext cx="905256" cy="2560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612880" y="141732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C000"/>
                </a:solidFill>
              </a:rPr>
              <a:t>55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201168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SM02 Scale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21239" y="212140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921239" y="2121408"/>
            <a:ext cx="1316736" cy="25603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612880" y="201168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050"/>
                </a:solidFill>
              </a:rPr>
              <a:t>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260604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SM03 Customers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921239" y="271576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921239" y="2715768"/>
            <a:ext cx="1481328" cy="25603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612880" y="260604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050"/>
                </a:solidFill>
              </a:rPr>
              <a:t>90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320040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SM04 Distribution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921239" y="331012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921239" y="3310128"/>
            <a:ext cx="1399032" cy="25603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612880" y="320040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050"/>
                </a:solidFill>
              </a:rPr>
              <a:t>85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0" y="379476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SM05 Brand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921239" y="390448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921239" y="3904488"/>
            <a:ext cx="1316736" cy="25603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612880" y="379476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050"/>
                </a:solidFill>
              </a:rPr>
              <a:t>80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263640"/>
            <a:ext cx="7313371" cy="50292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37160" y="6281928"/>
            <a:ext cx="7132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Key Strength: 17,000+ customers | 7 industries | Global distribution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3371" y="6263640"/>
            <a:ext cx="4875580" cy="50292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04811" y="628192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Risk: Revenue growth 4% vs industry CAGR 6.9%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OSC: Operations &amp; Supply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48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Score: 78/100   |   Weight: 20%</a:t>
            </a:r>
          </a:p>
        </p:txBody>
      </p:sp>
      <p:sp>
        <p:nvSpPr>
          <p:cNvPr id="5" name="Rectangle 4"/>
          <p:cNvSpPr/>
          <p:nvPr/>
        </p:nvSpPr>
        <p:spPr>
          <a:xfrm>
            <a:off x="9875520" y="91440"/>
            <a:ext cx="2011680" cy="8229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0" y="9144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78/100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280160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143000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70,000 sqm manufacturing facility in Coimbatore | Ahmedabad + Noida plants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2075688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938528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3,500+ distinct SKUs — single-source supplier capability for OEMs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2871216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734056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Advanced CNC machining, casting, surface treatment infrastructure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3666744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529584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DSIR-recognized R&amp;D — proprietary product development capability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4462272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325112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Expanding into electric actuators, sensors, robotic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" y="5257800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5120640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Internal digitization (ERP, MES) not publicly disclosed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1005840"/>
            <a:ext cx="3931920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Sub-Metric Scores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141732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OSC01 Scale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21239" y="152704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921239" y="1527048"/>
            <a:ext cx="1399032" cy="25603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612880" y="141732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050"/>
                </a:solidFill>
              </a:rPr>
              <a:t>85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201168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OSC02 Products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21239" y="212140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921239" y="2121408"/>
            <a:ext cx="1481328" cy="25603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612880" y="201168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050"/>
                </a:solidFill>
              </a:rPr>
              <a:t>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260604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OSC03 R&amp;D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921239" y="271576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921239" y="2715768"/>
            <a:ext cx="1349654" cy="25603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612880" y="260604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050"/>
                </a:solidFill>
              </a:rPr>
              <a:t>82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320040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OSC04 GST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921239" y="331012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921239" y="3310128"/>
            <a:ext cx="1185062" cy="2560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612880" y="320040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C000"/>
                </a:solidFill>
              </a:rPr>
              <a:t>72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0" y="379476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OSC05 Digital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921239" y="390448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921239" y="3904488"/>
            <a:ext cx="1069848" cy="2560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612880" y="379476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C000"/>
                </a:solidFill>
              </a:rPr>
              <a:t>65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263640"/>
            <a:ext cx="7313371" cy="50292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37160" y="6281928"/>
            <a:ext cx="7132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Key Strength: 3,500+ SKUs | 70,000 sqm plant | DSIR R&amp;D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3371" y="6263640"/>
            <a:ext cx="4875580" cy="50292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04811" y="628192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Risk: Supply chain digitization level undisclosed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FIN: Finance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48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Score: 67/100   |   Weight: 25%</a:t>
            </a:r>
          </a:p>
        </p:txBody>
      </p:sp>
      <p:sp>
        <p:nvSpPr>
          <p:cNvPr id="5" name="Rectangle 4"/>
          <p:cNvSpPr/>
          <p:nvPr/>
        </p:nvSpPr>
        <p:spPr>
          <a:xfrm>
            <a:off x="9875520" y="91440"/>
            <a:ext cx="2011680" cy="8229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0" y="9144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67/100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280160"/>
            <a:ext cx="73152" cy="20116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143000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FY2025 Revenue: ₹531 Cr | Employee productivity: ₹80L per employee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2075688"/>
            <a:ext cx="73152" cy="20116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938528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ICRA-rated | Stable outlook | Multiple reaffirmations (2021–2025)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2871216"/>
            <a:ext cx="73152" cy="20116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734056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Paid-up capital ₹26.5 Cr | Authorized ₹30 Cr | Self-funded growth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3666744"/>
            <a:ext cx="73152" cy="20116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529584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Revenue growth 4% YoY — steady but below inflation-adjusted peer level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4462272"/>
            <a:ext cx="73152" cy="20116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325112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EBITDA CAGR -22% (1-yr, Tracxn) — margin compression flagged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" y="5257800"/>
            <a:ext cx="73152" cy="20116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5120640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Full P&amp;L not public (unlisted Pvt Ltd) — ICRA rationale is key proxy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1005840"/>
            <a:ext cx="3931920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Sub-Metric Scores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141732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FIN01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21239" y="152704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921239" y="1527048"/>
            <a:ext cx="1316736" cy="25603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612880" y="141732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050"/>
                </a:solidFill>
              </a:rPr>
              <a:t>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201168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FIN02 Growth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21239" y="212140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921239" y="2121408"/>
            <a:ext cx="905256" cy="2560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612880" y="201168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C000"/>
                </a:solidFill>
              </a:rPr>
              <a:t>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260604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FIN03 EBITDA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921239" y="271576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921239" y="2715768"/>
            <a:ext cx="691286" cy="2560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612880" y="260604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0000"/>
                </a:solidFill>
              </a:rPr>
              <a:t>42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320040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FIN04 Credit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921239" y="331012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921239" y="3310128"/>
            <a:ext cx="1349654" cy="25603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612880" y="320040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050"/>
                </a:solidFill>
              </a:rPr>
              <a:t>82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0" y="379476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FIN05 Capital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921239" y="390448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921239" y="3904488"/>
            <a:ext cx="1234440" cy="25603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612880" y="379476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050"/>
                </a:solidFill>
              </a:rPr>
              <a:t>75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46720" y="438912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FIN06 Productivity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921239" y="449884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921239" y="4498848"/>
            <a:ext cx="1152144" cy="2560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612880" y="438912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C000"/>
                </a:solidFill>
              </a:rPr>
              <a:t>70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263640"/>
            <a:ext cx="7313371" cy="50292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37160" y="6281928"/>
            <a:ext cx="7132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Key Strength: ICRA Stable | ₹531 Cr revenue | Self-funded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3371" y="6263640"/>
            <a:ext cx="4875580" cy="50292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04811" y="628192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Risk: EBITDA CAGR -22% (FY25) — needs full P&amp;L for confirmation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IC: Industry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48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Score: 75/100   |   Weight: 10%</a:t>
            </a:r>
          </a:p>
        </p:txBody>
      </p:sp>
      <p:sp>
        <p:nvSpPr>
          <p:cNvPr id="5" name="Rectangle 4"/>
          <p:cNvSpPr/>
          <p:nvPr/>
        </p:nvSpPr>
        <p:spPr>
          <a:xfrm>
            <a:off x="9875520" y="91440"/>
            <a:ext cx="2011680" cy="8229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0" y="9144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75/100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280160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143000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India pneumatics market: $1.06B (2024) → $1.94B (2033) | CAGR 6.9%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2075688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938528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Make in India + PLI schemes driving domestic manufacturing investment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2871216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734056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China+1 sourcing strategy creating incremental export demand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3666744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529584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Janatics competes with SMC, Festo, Parker in mid-market segment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4462272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325112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End-market spread: pharma, auto, packaging, food, medical, textile, printing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" y="5257800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5120640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Industry 4.0 / smart pneumatics trend aligns with Janatics product roadmap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1005840"/>
            <a:ext cx="3931920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Sub-Metric Scores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141732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IC01 Mkt Size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21239" y="152704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921239" y="1527048"/>
            <a:ext cx="1152144" cy="2560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612880" y="141732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C000"/>
                </a:solidFill>
              </a:rPr>
              <a:t>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201168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IC02 Growth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21239" y="212140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921239" y="2121408"/>
            <a:ext cx="1283817" cy="25603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612880" y="201168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050"/>
                </a:solidFill>
              </a:rPr>
              <a:t>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260604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IC03 Position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921239" y="271576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921239" y="2715768"/>
            <a:ext cx="1152144" cy="2560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612880" y="260604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C000"/>
                </a:solidFill>
              </a:rPr>
              <a:t>70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320040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IC04 Macro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921239" y="331012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921239" y="3310128"/>
            <a:ext cx="1349654" cy="25603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612880" y="320040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050"/>
                </a:solidFill>
              </a:rPr>
              <a:t>82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0" y="379476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IC05 Diversity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921239" y="390448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921239" y="3904488"/>
            <a:ext cx="1250899" cy="25603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612880" y="379476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050"/>
                </a:solidFill>
              </a:rPr>
              <a:t>76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263640"/>
            <a:ext cx="7313371" cy="50292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37160" y="6281928"/>
            <a:ext cx="7132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Key Strength: 6.9% market CAGR | Make in India tailwind | 7 end-markets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3371" y="6263640"/>
            <a:ext cx="4875580" cy="50292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04811" y="628192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Risk: Global competition intensifying — SMC, Festo localizing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Executive Recommendation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30000" cy="64008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DDMR Composite Score: 75.7/100 — STRONG  |  Recommendation: Proceed with engagement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920240"/>
            <a:ext cx="2560320" cy="10058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201168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Strengths to leverage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920240"/>
            <a:ext cx="8778240" cy="100584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08960" y="1965960"/>
            <a:ext cx="8595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49-year brand with ICRA-validated credit health. Global distribution in 42 countries and 17,000+ customers provides revenue resilience. DSIR R&amp;D and 3,500+ SKU portfolio enable single-source supplier status with OEMs.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108960"/>
            <a:ext cx="2560320" cy="10058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320040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Watch points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3108960"/>
            <a:ext cx="8778240" cy="100584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08960" y="3154680"/>
            <a:ext cx="8595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EBITDA CAGR of -22% (FY25) requires explanation — request full P&amp;L and management commentary on margin drivers. Revenue growth at 4% trails the 6.9% sector CAGR.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297680"/>
            <a:ext cx="2560320" cy="10058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43891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Immediate due diligence asks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4297680"/>
            <a:ext cx="8778240" cy="100584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08960" y="4343400"/>
            <a:ext cx="8595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1. Full audited P&amp;L + balance sheet for FY2023–FY2025. 2. Customer concentration report (top 10 customers as % of revenue). 3. Director disclosure and related-party transactions. 4. Status of expansion into electric actuators / robotics — capex plan.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486400"/>
            <a:ext cx="2560320" cy="10058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557784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Opportunity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5486400"/>
            <a:ext cx="8778240" cy="100584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08960" y="5532120"/>
            <a:ext cx="8595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Make in India + China+1 export tailwind creates a 3–5 year window for Janatics to gain global OEM approvals. A partner with procurement or market access in Europe/Americas could accelerate this significantly.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404040"/>
                </a:solidFill>
              </a:rPr>
              <a:t>Report generated: 19 April 2026  |  Janatics India Private Limited  |  DDMR v1.0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