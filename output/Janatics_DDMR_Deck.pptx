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Strategy</c:v>
                </c:pt>
                <c:pt idx="1">
                  <c:v>Operations &amp;
Supply Chain</c:v>
                </c:pt>
                <c:pt idx="2">
                  <c:v>Sales &amp;
Marketing</c:v>
                </c:pt>
                <c:pt idx="3">
                  <c:v>Technology
Adoption</c:v>
                </c:pt>
                <c:pt idx="4">
                  <c:v>Skills &amp;
Capabilities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65</c:v>
                </c:pt>
                <c:pt idx="2">
                  <c:v>55</c:v>
                </c:pt>
                <c:pt idx="3">
                  <c:v>70</c:v>
                </c:pt>
                <c:pt idx="4">
                  <c:v>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Benchmark (67)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Strategy</c:v>
                </c:pt>
                <c:pt idx="1">
                  <c:v>Operations &amp;
Supply Chain</c:v>
                </c:pt>
                <c:pt idx="2">
                  <c:v>Sales &amp;
Marketing</c:v>
                </c:pt>
                <c:pt idx="3">
                  <c:v>Technology
Adoption</c:v>
                </c:pt>
                <c:pt idx="4">
                  <c:v>Skills &amp;
Capabilities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67</c:v>
                </c:pt>
                <c:pt idx="1">
                  <c:v>67</c:v>
                </c:pt>
                <c:pt idx="2">
                  <c:v>67</c:v>
                </c:pt>
                <c:pt idx="3">
                  <c:v>67</c:v>
                </c:pt>
                <c:pt idx="4">
                  <c:v>67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/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DIGITAL DIAGNOSTIC AND MATURITY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6E4F0"/>
                </a:solidFill>
              </a:rPr>
              <a:t>Janatics India Private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4F0"/>
                </a:solidFill>
              </a:rPr>
              <a:t>CIN: U31103TZ1991PTC003409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3474720"/>
            <a:ext cx="3200400" cy="10972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3474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64/100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COMPOSITE DDMR SCORE — Siloed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Report Date: 19 April 2026   | 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Company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1031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Founded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188720"/>
            <a:ext cx="347472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1977 (brand) / 1991 (incorporated)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38528"/>
            <a:ext cx="21031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9842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938528"/>
            <a:ext cx="347472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9842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U31103TZ1991PTC003409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88336"/>
            <a:ext cx="21031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7340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Headquarters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2688336"/>
            <a:ext cx="347472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273405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Coimbatore, Tamil Nadu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38144"/>
            <a:ext cx="21031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48386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Additional Plants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438144"/>
            <a:ext cx="347472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348386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Ahmedabad, Noida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87952"/>
            <a:ext cx="21031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2336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4187952"/>
            <a:ext cx="347472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42336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Active | ROC Coimbatore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37759"/>
            <a:ext cx="21031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9834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Revenue (FY2025)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4937759"/>
            <a:ext cx="347472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49834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₹531 Crore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687568"/>
            <a:ext cx="21031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7332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Employees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5687568"/>
            <a:ext cx="347472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0" y="57332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662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188720"/>
            <a:ext cx="21031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1234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Products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200" y="1188720"/>
            <a:ext cx="347472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3,500+ SKUs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1938528"/>
            <a:ext cx="21031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19842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Customers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1938528"/>
            <a:ext cx="347472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19842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17,000+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2688336"/>
            <a:ext cx="21031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27340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Countries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58200" y="2688336"/>
            <a:ext cx="347472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0" y="273405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42+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438144"/>
            <a:ext cx="21031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348386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Subsidiaries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58200" y="3438144"/>
            <a:ext cx="347472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3920" y="348386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USA, Germany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4187952"/>
            <a:ext cx="21031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42336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Credit Rating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58200" y="4187952"/>
            <a:ext cx="347472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42336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ICRA — Stable Outlook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4937759"/>
            <a:ext cx="21031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49834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R&amp;D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58200" y="4937759"/>
            <a:ext cx="347472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03920" y="49834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DSIR-recognized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5687568"/>
            <a:ext cx="21031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7332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Industry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58200" y="5687568"/>
            <a:ext cx="347472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03920" y="57332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Pneumatics &amp; Industrial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DDMR Digital Maturity Scorecard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68580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7589520" y="1280160"/>
            <a:ext cx="548640" cy="64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70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79" y="1280160"/>
            <a:ext cx="3657600" cy="6400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3533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ST: Strategy  [Strategic]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2286000"/>
            <a:ext cx="548640" cy="640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22860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2286000"/>
            <a:ext cx="3657600" cy="6400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35915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OSC: Operations &amp; Supply Chain  [Siloed]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3291840"/>
            <a:ext cx="548640" cy="640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32918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3291840"/>
            <a:ext cx="3657600" cy="6400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36499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SM: Sales &amp; Marketing  [Siloed]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4297680"/>
            <a:ext cx="548640" cy="64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42976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4297680"/>
            <a:ext cx="3657600" cy="6400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37083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TA: Technology Adoption  [Strategic]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5303520"/>
            <a:ext cx="548640" cy="640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53035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5303520"/>
            <a:ext cx="3657600" cy="6400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53766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64"/>
                </a:solidFill>
              </a:rPr>
              <a:t>SC: Skills &amp; Capabilities  [Siloed]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6400800"/>
            <a:ext cx="4251960" cy="411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6400800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Composite Score: 64/100  —  Siloed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ST: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Score: 70/100   |   Maturity: Strategic   |   Weight: 20%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91440"/>
            <a:ext cx="201168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70/100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80160"/>
            <a:ext cx="73152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Product portfolio pivot to I4.0 equipment — electric actuators, smart sensors, robotics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075688"/>
            <a:ext cx="73152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38528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DSIR-recognized R&amp;D division — structured technology investment commitment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871216"/>
            <a:ext cx="73152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34056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No formal digital transformation roadmap or DX strategy publicly disclosed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666744"/>
            <a:ext cx="73152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529584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No chief digital officer or digital leadership appointment evidenced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462272"/>
            <a:ext cx="73152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325112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Technology partnerships limited to DSIR; no digital ecosystem alliances disclosed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5257800"/>
            <a:ext cx="73152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12064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Innovation pipeline: incremental product extension; no open innovation signals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005840"/>
            <a:ext cx="393192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Sub-Metric Scores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41732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ST01 DX Strategy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39" y="152704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21239" y="1527048"/>
            <a:ext cx="1069848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0" y="141732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</a:rPr>
              <a:t>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01168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ST02 Leadership Vision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39" y="212140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1239" y="2121408"/>
            <a:ext cx="1185062" cy="256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0" y="201168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050"/>
                </a:solidFill>
              </a:rPr>
              <a:t>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60604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ST03 Investment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21239" y="271576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21239" y="2715768"/>
            <a:ext cx="1234440" cy="256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12880" y="260604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050"/>
                </a:solidFill>
              </a:rPr>
              <a:t>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2004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ST04 Tech Partnerships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21239" y="331012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21239" y="3310128"/>
            <a:ext cx="1119225" cy="256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12880" y="320040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050"/>
                </a:solidFill>
              </a:rPr>
              <a:t>68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79476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ST05 Innovation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39" y="390448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21239" y="3904488"/>
            <a:ext cx="1152144" cy="256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12880" y="379476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050"/>
                </a:solidFill>
              </a:rPr>
              <a:t>70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263640"/>
            <a:ext cx="7313371" cy="5029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" y="628192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Key Strength: DSIR R&amp;D + I4.0 product pivot signal digital leadership awareness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3371" y="6263640"/>
            <a:ext cx="4875580" cy="5029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4811" y="62819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Risk: No formal DX roadmap or strategy publicly articulated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OSC: Operations &amp; Supply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Score: 65/100   |   Maturity: Siloed   |   Weight: 20%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91440"/>
            <a:ext cx="201168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65/100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80160"/>
            <a:ext cx="731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70,000 sqm Coimbatore HQ | Ahmedabad + Noida plants — strong physical footprint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075688"/>
            <a:ext cx="731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38528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CNC machining, casting, surface treatment — physical automation well established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871216"/>
            <a:ext cx="731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34056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No ERP, MES, or supply chain visibility platform publicly disclosed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666744"/>
            <a:ext cx="731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529584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No Industry 4.0 certification or smart factory initiative announced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462272"/>
            <a:ext cx="731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325112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I4.0 product portfolio demonstrates concept awareness but internal adoption unclear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5257800"/>
            <a:ext cx="731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12064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Quality management practices consistent with ICRA compliance; formal system unconfirmed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005840"/>
            <a:ext cx="393192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Sub-Metric Scores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41732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OSC01 Mfg Readiness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39" y="152704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21239" y="1527048"/>
            <a:ext cx="987552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0" y="141732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</a:rPr>
              <a:t>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01168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OSC02 SC Visibility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39" y="212140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1239" y="2121408"/>
            <a:ext cx="822960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0" y="201168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</a:rPr>
              <a:t>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60604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OSC03 Automation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21239" y="271576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21239" y="2715768"/>
            <a:ext cx="1152144" cy="256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12880" y="260604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050"/>
                </a:solidFill>
              </a:rPr>
              <a:t>70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2004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OSC04 Quality Mgmt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21239" y="331012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21239" y="3310128"/>
            <a:ext cx="1185062" cy="256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12880" y="320040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050"/>
                </a:solidFill>
              </a:rPr>
              <a:t>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79476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OSC05 I4.0 Integration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39" y="390448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21239" y="3904488"/>
            <a:ext cx="1201521" cy="256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12880" y="379476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050"/>
                </a:solidFill>
              </a:rPr>
              <a:t>73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263640"/>
            <a:ext cx="7313371" cy="5029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" y="628192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Key Strength: Strong physical automation; CNC, casting, 3 plant locations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3371" y="6263640"/>
            <a:ext cx="4875580" cy="5029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4811" y="62819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Risk: No ERP/MES/SCM platform or I4.0 certification evidenced publicly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SM: Sales &amp;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Score: 55/100   |   Maturity: Siloed   |   Weight: 20%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91440"/>
            <a:ext cx="201168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55/100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80160"/>
            <a:ext cx="731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Two product websites (janatics.com / janaticspneumatics.com) — functional, not digital-first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075688"/>
            <a:ext cx="731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38528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17,000+ customers across 7 industries — managed at scale; CRM tool undisclosed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871216"/>
            <a:ext cx="731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34056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No B2B e-commerce, digital ordering portal, or online pricing identified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666744"/>
            <a:ext cx="731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529584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Limited LinkedIn / social media engagement signals from public 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462272"/>
            <a:ext cx="731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325112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No paid digital marketing, content strategy, or SEO investment evidenced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5257800"/>
            <a:ext cx="731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12064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200 global distribution partners — relationship-driven, not channel-digital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005840"/>
            <a:ext cx="393192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Sub-Metric Scores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41732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SM01 Digital Presence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39" y="152704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21239" y="1527048"/>
            <a:ext cx="987552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0" y="141732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</a:rPr>
              <a:t>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01168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SM02 Social Media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39" y="212140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1239" y="2121408"/>
            <a:ext cx="658368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0" y="201168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</a:rP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60604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SM03 E-commerce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21239" y="271576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21239" y="2715768"/>
            <a:ext cx="740664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12880" y="260604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</a:rPr>
              <a:t>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2004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SM04 Digital Marketing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21239" y="331012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21239" y="3310128"/>
            <a:ext cx="905256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12880" y="320040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</a:rPr>
              <a:t>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79476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SM05 CRM / 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39" y="390448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21239" y="3904488"/>
            <a:ext cx="1234440" cy="256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12880" y="379476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050"/>
                </a:solidFill>
              </a:rPr>
              <a:t>75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263640"/>
            <a:ext cx="7313371" cy="5029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" y="628192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Key Strength: 17,000+ customers managed; CRM implied at scale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3371" y="6263640"/>
            <a:ext cx="4875580" cy="5029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4811" y="62819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Risk: No digital sales channel, e-commerce, or social marketing 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TA: Technology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Score: 70/100   |   Maturity: Strategic   |   Weight: 20%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91440"/>
            <a:ext cx="201168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70/100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80160"/>
            <a:ext cx="73152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DSIR R&amp;D developing robotic systems, IoT sensors, electric actuators — strong product R&amp;D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075688"/>
            <a:ext cx="73152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38528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Industry 4.0 didactic product line — smart manufacturing expertise in products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871216"/>
            <a:ext cx="73152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34056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Website infrastructure functional; no modern CMS, API layer, or customer portal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666744"/>
            <a:ext cx="73152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529584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No cloud migration, SaaS adoption, or digital collaboration tools disclosed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462272"/>
            <a:ext cx="73152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325112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Cybersecurity: ICRA-compliant; no ISO 27001 or public data policy found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5257800"/>
            <a:ext cx="73152" cy="2011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12064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Largest gap: internal tech infrastructure lags product-layer digital maturity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005840"/>
            <a:ext cx="393192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Sub-Metric Scores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41732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TA01 Digital Infra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39" y="152704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21239" y="1527048"/>
            <a:ext cx="1069848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0" y="141732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</a:rPr>
              <a:t>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01168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TA02 IoT Products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39" y="212140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1239" y="2121408"/>
            <a:ext cx="1316736" cy="256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0" y="201168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050"/>
                </a:solidFill>
              </a:rPr>
              <a:t>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60604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TA03 Cloud/SaaS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21239" y="271576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21239" y="2715768"/>
            <a:ext cx="987552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12880" y="260604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</a:rPr>
              <a:t>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2004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TA04 R&amp;D Digital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21239" y="331012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21239" y="3310128"/>
            <a:ext cx="1283817" cy="256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12880" y="320040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050"/>
                </a:solidFill>
              </a:rPr>
              <a:t>78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79476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TA05 Cybersecurity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39" y="390448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21239" y="3904488"/>
            <a:ext cx="1102766" cy="256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12880" y="379476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050"/>
                </a:solidFill>
              </a:rPr>
              <a:t>67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263640"/>
            <a:ext cx="7313371" cy="5029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" y="628192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Key Strength: IoT product R&amp;D (80/100) — DSIR-backed, robotic and sensor development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3371" y="6263640"/>
            <a:ext cx="4875580" cy="5029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4811" y="62819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Risk: Internal cloud/SaaS adoption and cybersecurity framework not evidenced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SC: Skills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Score: 60/100   |   Maturity: Siloed   |   Weight: 20%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91440"/>
            <a:ext cx="201168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60/100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80160"/>
            <a:ext cx="731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662 employees — engineering-deep workforce; strong CNC and automation specialists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075688"/>
            <a:ext cx="731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38528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DSIR R&amp;D team in place — structured technical innovation capability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871216"/>
            <a:ext cx="731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34056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Limited signals of software engineers, data scientists, or digital roles hired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666744"/>
            <a:ext cx="731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529584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No public L&amp;D, digital upskilling, or online learning program disclosed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462272"/>
            <a:ext cx="731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325112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Management I4.0 awareness evidenced by product decisions; no CDO hire signal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5257800"/>
            <a:ext cx="73152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12064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No hackathon, innovation lab, startup engagement, or employee innovation program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005840"/>
            <a:ext cx="393192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Sub-Metric Scores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41732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SC01 Digital Talent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39" y="152704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21239" y="1527048"/>
            <a:ext cx="905256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0" y="141732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</a:rPr>
              <a:t>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01168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SC02 Tech Workforce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39" y="212140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1239" y="2121408"/>
            <a:ext cx="1185062" cy="256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0" y="201168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050"/>
                </a:solidFill>
              </a:rPr>
              <a:t>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60604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SC03 Training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21239" y="271576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21239" y="2715768"/>
            <a:ext cx="822960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12880" y="260604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</a:rPr>
              <a:t>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2004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SC04 Leadership DQ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21239" y="331012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21239" y="3310128"/>
            <a:ext cx="1069848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12880" y="320040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</a:rPr>
              <a:t>65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79476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SC05 Innovation Culture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39" y="3904488"/>
            <a:ext cx="1645920" cy="2560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21239" y="3904488"/>
            <a:ext cx="954633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12880" y="379476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</a:rPr>
              <a:t>58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263640"/>
            <a:ext cx="7313371" cy="5029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" y="628192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Key Strength: Engineering-depth workforce; DSIR R&amp;D team in place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3371" y="6263640"/>
            <a:ext cx="4875580" cy="5029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4811" y="62819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Risk: No digital talent pipeline or upskilling program evidenced publicly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Next Best Actions — Digital Transformation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2834640" cy="38404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#01  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834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8132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Activate B2B Digital Sales Channel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65960"/>
            <a:ext cx="283464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751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3864"/>
                </a:solidFill>
              </a:rPr>
              <a:t>Gap: SM03: 45/100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86000"/>
            <a:ext cx="2834640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286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Expected Benefit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60320"/>
            <a:ext cx="2834640" cy="1115568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2587752"/>
            <a:ext cx="272491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+15–20% incremental revenue from direct digital orders within 18 months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2834640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703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Cost of Inaction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77640"/>
            <a:ext cx="2834640" cy="1115568"/>
          </a:xfrm>
          <a:prstGeom prst="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4005072"/>
            <a:ext cx="272491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F0000"/>
                </a:solidFill>
              </a:rPr>
              <a:t>Global competitors (SMC, Festo) own digital search — every quarter cedes buyer mindshare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120640"/>
            <a:ext cx="283464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5120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Why Now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394960"/>
            <a:ext cx="2834640" cy="1115568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5422392"/>
            <a:ext cx="272491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India B2B e-commerce growing 25%+ p.a.; 49-yr brand + 3,500 SKUs = digital-first advantage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27832" y="1051560"/>
            <a:ext cx="2834640" cy="38404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27832" y="105156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#02  HIGH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27832" y="1463040"/>
            <a:ext cx="2834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3552" y="148132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Deploy ERP + Supply Chain Visibility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27832" y="1965960"/>
            <a:ext cx="283464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73552" y="19751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3864"/>
                </a:solidFill>
              </a:rPr>
              <a:t>Gap: OSC02: 50/100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2286000"/>
            <a:ext cx="2834640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3552" y="2286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Expected Benefit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27832" y="2560320"/>
            <a:ext cx="2834640" cy="1115568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82696" y="2587752"/>
            <a:ext cx="272491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10–15% operational efficiency gain; unlock global OEM export qualifications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27832" y="3703320"/>
            <a:ext cx="2834640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3552" y="3703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Cost of Inaction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27832" y="3977640"/>
            <a:ext cx="2834640" cy="1115568"/>
          </a:xfrm>
          <a:prstGeom prst="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82696" y="4005072"/>
            <a:ext cx="272491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F0000"/>
                </a:solidFill>
              </a:rPr>
              <a:t>OEM buyers mandate digital traceability — no ERP = disqualified from high-value RFQs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27832" y="5120640"/>
            <a:ext cx="283464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73552" y="5120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Why Now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27832" y="5394960"/>
            <a:ext cx="2834640" cy="1115568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82696" y="5422392"/>
            <a:ext cx="272491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China+1 OEM inquiry window is open NOW — digital ops credibility needed to convert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81344" y="1051560"/>
            <a:ext cx="2834640" cy="38404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81344" y="105156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#03  MEDIUM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81344" y="1463040"/>
            <a:ext cx="2834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27064" y="148132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Digital Workforce Upskilling Program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81344" y="1965960"/>
            <a:ext cx="283464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27064" y="19751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3864"/>
                </a:solidFill>
              </a:rPr>
              <a:t>Gap: SC03: 50/100 · SC01: 55/100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81344" y="2286000"/>
            <a:ext cx="2834640" cy="274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27064" y="2286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Expected Benefit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81344" y="2560320"/>
            <a:ext cx="2834640" cy="1115568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36208" y="2587752"/>
            <a:ext cx="272491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Accelerates all digital tool adoption; reduces transformation failure risk by 60%+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81344" y="3703320"/>
            <a:ext cx="2834640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27064" y="3703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Cost of Inaction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1344" y="3977640"/>
            <a:ext cx="2834640" cy="1115568"/>
          </a:xfrm>
          <a:prstGeom prst="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36208" y="4005072"/>
            <a:ext cx="272491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F0000"/>
                </a:solidFill>
              </a:rPr>
              <a:t>Technology without people = stranded investment; ERP + e-commerce will underperform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81344" y="5120640"/>
            <a:ext cx="283464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27064" y="5120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Why Now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81344" y="5394960"/>
            <a:ext cx="2834640" cy="1115568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36208" y="5422392"/>
            <a:ext cx="272491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Digital skills gap widening; early movers gain 2–3 yr head start on talent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34856" y="1051560"/>
            <a:ext cx="2834640" cy="38404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34856" y="105156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#04  MEDIUM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34856" y="1463040"/>
            <a:ext cx="28346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80576" y="148132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Smart Factory Showcase — Coimbatore Plant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34856" y="1965960"/>
            <a:ext cx="2834640" cy="29260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80576" y="19751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3864"/>
                </a:solidFill>
              </a:rPr>
              <a:t>Gap: TA01: 65/100 · ST03: 75/100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34856" y="2286000"/>
            <a:ext cx="2834640" cy="274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80576" y="2286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Expected Benefit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34856" y="2560320"/>
            <a:ext cx="2834640" cy="1115568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89720" y="2587752"/>
            <a:ext cx="272491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Credibility proof-by-example; accelerates I4.0 sales cycles; OEM audit readiness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34856" y="3703320"/>
            <a:ext cx="2834640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80576" y="3703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Cost of Inaction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34856" y="3977640"/>
            <a:ext cx="2834640" cy="1115568"/>
          </a:xfrm>
          <a:prstGeom prst="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89720" y="4005072"/>
            <a:ext cx="272491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F0000"/>
                </a:solidFill>
              </a:rPr>
              <a:t>Selling I4.0 while running a non-digitized plant is a credibility gap buyers detect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34856" y="5120640"/>
            <a:ext cx="283464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80576" y="5120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Why Now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34856" y="5394960"/>
            <a:ext cx="2834640" cy="1115568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89720" y="5422392"/>
            <a:ext cx="272491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Janatics owns the tech — fastest credibility play with no new vendor or capex risk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solidFill>
            <a:srgbClr val="2E75B6"/>
          </a:solidFill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Maturity band target after initiatives: Siloed → Strategic (67–83)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Executive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640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DDMR Composite Score: 64/100 — SILOED  |  Digital Transformation: Early-Stage Engagement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256032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Strengths to leverage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920240"/>
            <a:ext cx="8778240" cy="10058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96596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DSIR R&amp;D and I4.0 product portfolio demonstrate product-layer digital competence. Strong manufacturing base (70k sqm, 3 plants, 3,500+ SKUs) and ICRA Stable credit provide a stable foundation for digital investment.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256032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2004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Priority gaps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3108960"/>
            <a:ext cx="8778240" cy="10058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315468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Digital sales channel (SM03: 45/100) and supply chain visibility (OSC02: 50/100) are the two lowest-scoring sub-metrics — quick wins with measurable ROI. Social media engagement (SM02: 40/100) requires immediate activation.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97680"/>
            <a:ext cx="256032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389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Recommended DX initiatives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4297680"/>
            <a:ext cx="8778240" cy="10058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434340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1. Deploy B2B digital ordering portal and SEO-optimised product catalog. 2. Publish ERP/SCM roadmap — signals operational maturity to global OEM buyers. 3. Launch digital upskilling program for engineering workforce (SC03: 50/100). 4. Appoint digital transformation lead or CDO.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486400"/>
            <a:ext cx="256032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5778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Opportunity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5486400"/>
            <a:ext cx="8778240" cy="10058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553212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Janatics' own I4.0 product expertise creates a credibility-led path to internal digitization — using their own sensors and automation products to modernize their manufacturing is a compelling narrative for global OEM customers assessing vendor digital maturity.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04040"/>
                </a:solidFill>
              </a:rPr>
              <a:t>Report generated: 19 April 2026  |  Janatics India Private Limited  |  DDMR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