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Strategy &amp;
Leadership</c:v>
                </c:pt>
                <c:pt idx="1">
                  <c:v>Sales &amp;
Marketing</c:v>
                </c:pt>
                <c:pt idx="2">
                  <c:v>Operations &amp;
Supply Chain</c:v>
                </c:pt>
                <c:pt idx="3">
                  <c:v>Finance</c:v>
                </c:pt>
                <c:pt idx="4">
                  <c:v>Industry
Context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81</c:v>
                </c:pt>
                <c:pt idx="1">
                  <c:v>78</c:v>
                </c:pt>
                <c:pt idx="2">
                  <c:v>78</c:v>
                </c:pt>
                <c:pt idx="3">
                  <c:v>67</c:v>
                </c:pt>
                <c:pt idx="4">
                  <c:v>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(75)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Strategy &amp;
Leadership</c:v>
                </c:pt>
                <c:pt idx="1">
                  <c:v>Sales &amp;
Marketing</c:v>
                </c:pt>
                <c:pt idx="2">
                  <c:v>Operations &amp;
Supply Chain</c:v>
                </c:pt>
                <c:pt idx="3">
                  <c:v>Finance</c:v>
                </c:pt>
                <c:pt idx="4">
                  <c:v>Industry
Context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75</c:v>
                </c:pt>
                <c:pt idx="1">
                  <c:v>75</c:v>
                </c:pt>
                <c:pt idx="2">
                  <c:v>75</c:v>
                </c:pt>
                <c:pt idx="3">
                  <c:v>75</c:v>
                </c:pt>
                <c:pt idx="4">
                  <c:v>75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DUE DILIGENCE &amp; MARKET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6E4F0"/>
                </a:solidFill>
              </a:rPr>
              <a:t>Janatics India Private Limited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6E4F0"/>
                </a:solidFill>
              </a:rPr>
              <a:t>CIN: U31103TZ1991PTC003409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474720"/>
            <a:ext cx="3200400" cy="10972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4747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75.7/100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41148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COMPOSITE DDMR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Report Date: 19 April 2026   |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Company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Founded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1188720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12344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1977 (brand) / 1991 (incorporated)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9842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93852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9842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U31103TZ1991PTC003409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88336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2734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Headquarters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2688336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273405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Coimbatore, Tamil Nadu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38144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48386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Additional Plants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3438144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0" y="348386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Ahmedabad, Noida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187952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233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4187952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423367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Active | ROC Coimbatore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937759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98347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Revenue (FY2025)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4937759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9834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₹531 Crore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68756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5733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Employees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568756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57332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662 (Aug 2025)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1188720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234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Products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1188720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3920" y="12344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3,500+ SKUs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193852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19842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58200" y="193852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198424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17,000+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2688336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273405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Countries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58200" y="2688336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2734056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42+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438144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483864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Subsidiaries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3438144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3483864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USA, Germany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4187952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4233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Credit Rating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4187952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03920" y="4233672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ICRA — Stable Outlook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4937759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5080" y="498347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R&amp;D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4937759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4983479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DSIR-recognized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5687568"/>
            <a:ext cx="210312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57332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Industry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58200" y="5687568"/>
            <a:ext cx="347472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3920" y="573328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Pneumatics &amp; Industrial Automation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DDMR Dimension Scorecard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097280"/>
          <a:ext cx="6858000" cy="5303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589520" y="128016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28016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81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28016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3533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SL: Strategy &amp; Leadership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228600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228600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228600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35915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SM: Sales &amp; Marketing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29184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329184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329184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36499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OSC: Operations &amp; Supply Chain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4297680"/>
            <a:ext cx="548640" cy="6400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42976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429768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37083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FIN: Finance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5303520"/>
            <a:ext cx="54864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530352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5303520"/>
            <a:ext cx="3657600" cy="6400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537667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F3864"/>
                </a:solidFill>
              </a:rPr>
              <a:t>IC: Industry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6400800"/>
            <a:ext cx="425196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6400800"/>
            <a:ext cx="4251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Composite Score: 75.7/100  —  Strong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SL: Strategy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81/100   |   Weight: 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81/100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Founded 1977 — 49-year operational track record, incorporated 1991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 active directors | AGM Sept 2024 | ROC Coimbatore filings current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Global footprint: 42+ countries | Subsidiaries: USA and Germany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DSIR-recognized R&amp;D division | 200 global distribution partners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Strategic pivot: electric actuators, robotics, Industry 4.0 products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ICRA-rated debt profile | Stable outlook | Healthy debt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SL01 Tenure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481328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SL02 Directors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234440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SL03 Governance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SL04 Debt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283817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SL05 Strategy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3891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SL06 Global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4988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21239" y="4498848"/>
            <a:ext cx="1448409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12880" y="43891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49-year brand | Global in 42 countries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No public ESG / independent director disclosures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SM: Sales &amp;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78/100   |   Weight: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FY2025 Revenue: ₹531 Crore (₹507.9 Cr FY2024 → 4% YoY growth)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Industry CAGR: 6.9% — Janatics growing slightly below sector pace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17,000+ customers across 7 industries — low concentration 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200 global distribution partners | 3 manufacturing plants nationally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Own-brand (Janatics) | AIA India member | 49-year brand equity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Digital commerce channel not yet activated — potential growth lever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SM01 Rev Growth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905256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SM02 Scale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SM03 Customers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481328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SM04 Distribution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399032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SM05 Brand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17,000+ customers | 7 industries | Global distribution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Revenue growth 4% vs industry CAGR 6.9%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OSC: Operations &amp;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78/100   |   Weight: 20%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70,000 sqm manufacturing facility in Coimbatore | Ahmedabad + Noida plants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3,500+ distinct SKUs — single-source supplier capability for OEMs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Advanced CNC machining, casting, surface treatment infrastructure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DSIR-recognized R&amp;D — proprietary product development capability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Expanding into electric actuators, sensors, robotic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Internal digitization (ERP, MES) not publicly disclosed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OSC01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399032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OSC02 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481328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OSC03 R&amp;D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OSC04 GST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185062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OSC05 Digital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069848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65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3,500+ SKUs | 70,000 sqm plant | DSIR R&amp;D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Supply chain digitization level undisclosed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FIN: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67/100   |   Weight: 25%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67/100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FY2025 Revenue: ₹531 Cr | Employee productivity: ₹80L per employee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ICRA-rated | Stable outlook | Multiple reaffirmations (2021–2025)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Paid-up capital ₹26.5 Cr | Authorized ₹30 Cr | Self-funded growth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Revenue growth 4% YoY — steady but below inflation-adjusted peer level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EBITDA CAGR -22% (1-yr, Tracxn) — margin compression flagged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Full P&amp;L not public (unlisted Pvt Ltd) — ICRA rationale is key proxy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FIN01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316736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FIN02 Growth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905256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FIN03 EBITDA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691286" cy="25603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00"/>
                </a:solidFill>
              </a:rPr>
              <a:t>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FIN04 Credit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FIN05 Capital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234440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3891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FIN06 Productivity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4988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21239" y="4498848"/>
            <a:ext cx="1152144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12880" y="43891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ICRA Stable | ₹531 Cr revenue | Self-funded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EBITDA CAGR -22% (FY25) — needs full P&amp;L for confirmation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IC: Industry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Score: 75/100   |   Weight: 10%</a:t>
            </a:r>
          </a:p>
        </p:txBody>
      </p:sp>
      <p:sp>
        <p:nvSpPr>
          <p:cNvPr id="5" name="Rectangle 4"/>
          <p:cNvSpPr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0" y="9144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75/100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8016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14300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India pneumatics market: $1.06B (2024) → $1.94B (2033) | CAGR 6.9%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2075688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3852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Make in India + PLI schemes driving domestic manufacturing investment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871216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3405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China+1 sourcing strategy creating incremental export demand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3666744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529584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Janatics competes with SMC, Festo, Parker in mid-market 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4462272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2511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End-market spread: pharma, auto, packaging, food, medical, textile, printing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5257800"/>
            <a:ext cx="73152" cy="20116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512064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</a:rPr>
              <a:t>Industry 4.0 / smart pneumatics trend aligns with Janatics product roadmap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0058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Sub-Metric Scores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141732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IC01 Mkt Size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21239" y="152704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921239" y="1527048"/>
            <a:ext cx="1152144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0" y="141732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201168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IC02 Growth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21239" y="212140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21239" y="2121408"/>
            <a:ext cx="1283817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0" y="201168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260604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IC03 Position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21239" y="271576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21239" y="2715768"/>
            <a:ext cx="1152144" cy="2560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12880" y="260604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320040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IC04 Macro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39" y="331012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921239" y="3310128"/>
            <a:ext cx="1349654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12880" y="320040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3794760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IC05 Diversity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21239" y="3904488"/>
            <a:ext cx="1645920" cy="2560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21239" y="3904488"/>
            <a:ext cx="1250899" cy="256032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0" y="3794760"/>
            <a:ext cx="365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050"/>
                </a:solidFill>
              </a:rPr>
              <a:t>76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263640"/>
            <a:ext cx="7313371" cy="50292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" y="6281928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Key Strength: 6.9% market CAGR | Make in India tailwind | 7 end-markets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3371" y="6263640"/>
            <a:ext cx="487558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04811" y="62819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Risk: Global competition intensifying — SMC, Festo localizing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Executive 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DDMR Composite Score: 75.7/100 — STRONG  |  Recommendation: Proceed with engagement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201168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Strengths to leverage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92024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96596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49-year brand with ICRA-validated credit health. Global distribution in 42 countries and 17,000+ customers provides revenue resilience. DSIR R&amp;D and 3,500+ SKU portfolio enable single-source supplier status with OEMs.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10896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20040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Watch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310896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15468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EBITDA CAGR of -22% (FY25) requires explanation — request full P&amp;L and management commentary on margin drivers. Revenue growth at 4% trails the 6.9% sector CAGR.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9768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38912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Immediate due diligence 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429768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1. Full audited P&amp;L + balance sheet for FY2023–FY2025. 2. Customer concentration report (top 10 customers as % of revenue). 3. Director disclosure and related-party transactions. 4. Status of expansion into electric actuators / robotics — capex plan.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486400"/>
            <a:ext cx="256032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577840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Opportunity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5486400"/>
            <a:ext cx="877824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553212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3864"/>
                </a:solidFill>
              </a:rPr>
              <a:t>Make in India + China+1 export tailwind creates a 3–5 year window for Janatics to gain global OEM approvals. A partner with procurement or market access in Europe/Americas could accelerate this significantly.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404040"/>
                </a:solidFill>
              </a:rPr>
              <a:t>Report generated: 19 April 2026  |  Janatics India Private Limited  |  DDMR v1.0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